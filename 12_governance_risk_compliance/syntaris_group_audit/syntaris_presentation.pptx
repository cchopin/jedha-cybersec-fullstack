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Actuel</c:v>
                </c:pt>
              </c:strCache>
            </c:strRef>
          </c:tx>
          <c:spPr>
            <a:solidFill>
              <a:srgbClr val="E67E22"/>
            </a:solidFill>
            <a:ln w="25400" cap="flat">
              <a:solidFill>
                <a:srgbClr val="E67E22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E67E22"/>
              </a:solidFill>
              <a:ln w="9525" cap="flat">
                <a:solidFill>
                  <a:srgbClr val="E67E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Govern</c:v>
                  </c:pt>
                  <c:pt idx="1">
                    <c:v>Identify</c:v>
                  </c:pt>
                  <c:pt idx="2">
                    <c:v>Protect</c:v>
                  </c:pt>
                  <c:pt idx="3">
                    <c:v>Detect</c:v>
                  </c:pt>
                  <c:pt idx="4">
                    <c:v>Respond</c:v>
                  </c:pt>
                  <c:pt idx="5">
                    <c:v>Recover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2.5</c:v>
                </c:pt>
                <c:pt idx="1">
                  <c:v>3</c:v>
                </c:pt>
                <c:pt idx="2">
                  <c:v>3.6</c:v>
                </c:pt>
                <c:pt idx="3">
                  <c:v>2.5</c:v>
                </c:pt>
                <c:pt idx="4">
                  <c:v>3.5</c:v>
                </c:pt>
                <c:pt idx="5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Cible</c:v>
                </c:pt>
              </c:strCache>
            </c:strRef>
          </c:tx>
          <c:spPr>
            <a:solidFill>
              <a:srgbClr val="1E2761"/>
            </a:solidFill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Govern</c:v>
                  </c:pt>
                  <c:pt idx="1">
                    <c:v>Identify</c:v>
                  </c:pt>
                  <c:pt idx="2">
                    <c:v>Protect</c:v>
                  </c:pt>
                  <c:pt idx="3">
                    <c:v>Detect</c:v>
                  </c:pt>
                  <c:pt idx="4">
                    <c:v>Respond</c:v>
                  </c:pt>
                  <c:pt idx="5">
                    <c:v>Recover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4.2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114800" cy="4114800"/>
          </a:xfrm>
          <a:prstGeom prst="ellipse">
            <a:avLst/>
          </a:prstGeom>
          <a:solidFill>
            <a:srgbClr val="2A3A7A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A3A7A"/>
          </a:solidFill>
          <a:ln w="12700">
            <a:solidFill>
              <a:srgbClr val="2A3A7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365760"/>
            <a:ext cx="914400" cy="9144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4937760"/>
            <a:ext cx="822960" cy="822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 CYBERSÉCURITÉ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40080" y="2011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Syntaris Group</a:t>
            </a:r>
            <a:endParaRPr lang="en-US" sz="4800" dirty="0"/>
          </a:p>
        </p:txBody>
      </p:sp>
      <p:sp>
        <p:nvSpPr>
          <p:cNvPr id="8" name="Text 4"/>
          <p:cNvSpPr/>
          <p:nvPr/>
        </p:nvSpPr>
        <p:spPr>
          <a:xfrm>
            <a:off x="640080" y="2971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NIST CSF 2.0 et conformité RGPD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85800" y="3703320"/>
            <a:ext cx="320040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39319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 maturité et de conformité, état actuel vs cible, recommandations priorisées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008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un consultant externe en cybersécurité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 de l'entreprise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126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9105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94560" y="159105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d'identité numérique et de paiement, cloud-native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04288"/>
            <a:ext cx="6126480" cy="71323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34086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Fondée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234086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2017, siège à Paris, bureaux Dublin, Toronto, Barcelone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6126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9067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4560" y="309067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 salariés, 42 M€ de revenu récurrent (croissance +37%/an)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03904"/>
            <a:ext cx="6126480" cy="713232"/>
          </a:xfrm>
          <a:prstGeom prst="rect">
            <a:avLst/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94560" y="38404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1 100 clients B2B dans 27 pays, ~280 M d'appels API/mois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553712"/>
            <a:ext cx="6126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59028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94560" y="459028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IDTrust (biométrie), SecurePay (paiement), VaultLock, RegFlow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040880" y="1554480"/>
            <a:ext cx="457200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69480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personnelles traitées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69480" y="2148840"/>
            <a:ext cx="4160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: nom, téléphone, email, ID national</a:t>
            </a:r>
            <a:endParaRPr lang="en-US" sz="12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Biométrie : scan facial (IDTrust)</a:t>
            </a:r>
            <a:endParaRPr lang="en-US" sz="12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 : tokens, IBAN, métadonnées de paiement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040880" y="4023360"/>
            <a:ext cx="4572000" cy="219456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4160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réglementaire applicable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69480" y="4617720"/>
            <a:ext cx="4160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(UE), opérations transfrontalières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niveau 1 (SecurePay)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PIPEDA (Canada), EU-US Data Privacy Framework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(valide jusqu'en 2026)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Résumé exécutif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globale : solide sur la protection et la réponse, fragile sur la gouvernance et la chaîne de tiers.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6118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57400"/>
            <a:ext cx="361188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331720"/>
            <a:ext cx="640080" cy="640080"/>
          </a:xfrm>
          <a:prstGeom prst="ellipse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45059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554480" y="25786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Cisco ASA vulnérable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7240" y="31546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 critique (RCE) non corrigée depuis oct. 2024, maintenue pour des clients bancaires sous contrainte contractuelle.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25112" y="2057400"/>
            <a:ext cx="36118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25112" y="2057400"/>
            <a:ext cx="3611880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53712" y="2331720"/>
            <a:ext cx="640080" cy="640080"/>
          </a:xfrm>
          <a:prstGeom prst="ellipse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245059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30952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330952" y="25786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manuelle des DSR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553712" y="31546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RGPD traitées par email ; 4 cas hors délai en 2021, enquête CNIL (sans amende).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101584" y="2057400"/>
            <a:ext cx="36118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01584" y="2057400"/>
            <a:ext cx="3611880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330184" y="2331720"/>
            <a:ext cx="640080" cy="640080"/>
          </a:xfrm>
          <a:prstGeom prst="ellipse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450592"/>
            <a:ext cx="402336" cy="40233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07424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3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9107424" y="25786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inégale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8330184" y="31546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en heures ouvrées seulement, endpoints Mac sans télémétrie, corrélation d'alertes limitée.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48640" y="461772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983480"/>
            <a:ext cx="822960" cy="8229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920240" y="4800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Applicabilité RGPD : totale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1920240" y="521208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Syntaris est responsable de traitement pour ses services hébergés et sous-traitant pour les offres en marque blanche. Le traitement de données biométriques et financières à grande échelle impose un niveau d'exigence élevé (articles 5, 25, 32 et 33 examinés en fin de présentation).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Maturité NIST CSF : actuel vs cible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6692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9224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92240" y="2057400"/>
            <a:ext cx="109728" cy="1234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&amp; Respond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766560" y="24231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les plus matures : PAM CyberArk, MFA, chiffrement AES-256, tabletop Q4 2024 salué à l'audit ISO 27001.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92240" y="3429000"/>
            <a:ext cx="10972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3429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&amp; Detect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766560" y="3794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le plus marqué : pas de CISO dédié, GV.SC immature sur 37 tiers, SOC limité aux heures ouvrées.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92240" y="4800600"/>
            <a:ext cx="109728" cy="1234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0" y="4800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&amp; Recover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66560" y="51663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socle mais points ouverts : CVE VPN non corrigée, PRA à formaliser hors production.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Recommandations priorisées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114800"/>
                <a:gridCol w="1554480"/>
                <a:gridCol w="1463040"/>
                <a:gridCol w="277063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recommandée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Équipe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 attendu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Décommissionner ou isoler les VPN Cisco ASA, négocier la migration avec les clients bancaires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ID.RA / PR.PS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Sec.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Élimine une RCE exploitable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Industrialiser le traitement des DSR (workflow intégré VaultLock v2, suivi traçable)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RGPD art. 12 / RC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+ Produit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Respect du délai de 30 jours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Nommer un responsable sécurité exécutif (CISO) avec autorité claire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GV.RR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Clarifie la responsabilité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Étendre la couverture SOC hors heures ouvrées et la télémétrie aux endpoints Mac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DE.CM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Dublin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Réduit l'angle mort 18h-08h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Centraliser la gestion des tiers (plateforme GRC), mettre à jour les 7 contrats hérités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GV.SC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+ Procur.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Maîtrise du risque fournisseur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Documenter la sanitisation des données avant entraînement ML, rafraîchir la formation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PR.DS / PR.AT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Conformité art. 5 renforcée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 : haute = risque exploitable ou manquement réglementaire avéré ; moyenne = écart structurel ; basse = amélioration de conformité.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Évaluation RGPD : articles 5, 25, 32, 33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79192" cy="2743200"/>
          </a:xfrm>
          <a:prstGeom prst="roundRect">
            <a:avLst>
              <a:gd name="adj" fmla="val 2048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6192" y="1737360"/>
            <a:ext cx="713232" cy="7132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89280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42032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Art. 5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290779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2461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Minimisation à questionner sur la biométrie. Limitation de conservation et exactitude globalement tenues.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28416" y="1508760"/>
            <a:ext cx="2679192" cy="2743200"/>
          </a:xfrm>
          <a:prstGeom prst="roundRect">
            <a:avLst>
              <a:gd name="adj" fmla="val 2048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15968" y="1737360"/>
            <a:ext cx="713232" cy="7132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416" y="1892808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9856" y="2542032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Art. 25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419856" y="290779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11296" y="32461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Revendiqué (compliance-by-design, DPIA sur tout nouveau produit). À nuancer : sanitisation ML non documentée.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08192" y="1508760"/>
            <a:ext cx="2679192" cy="2743200"/>
          </a:xfrm>
          <a:prstGeom prst="roundRect">
            <a:avLst>
              <a:gd name="adj" fmla="val 2048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095744" y="1737360"/>
            <a:ext cx="713232" cy="7132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1892808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99632" y="2542032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Art. 32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199632" y="290779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91072" y="32461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Largement couvert : chiffrement, pseudonymisation, RBAC, tests. Angle mort : VPN legacy vulnérable.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887968" y="1508760"/>
            <a:ext cx="2679192" cy="2743200"/>
          </a:xfrm>
          <a:prstGeom prst="roundRect">
            <a:avLst>
              <a:gd name="adj" fmla="val 2048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875520" y="1737360"/>
            <a:ext cx="713232" cy="7132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0968" y="1892808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79408" y="2542032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Art. 33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8979408" y="290779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72h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9070848" y="32461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72h dans les contrats tiers. Faiblesse de traçabilité interne révélée par l'incident DSR 2021.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48640" y="4480560"/>
            <a:ext cx="11091672" cy="178308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22960" y="4617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RGPD prioritaires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822960" y="498348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le flux DSR et le tracer de bout en bout (réponse sous 30 jours garantie)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Formaliser un plan de notification de violation aligné sur le délai de 72 heures, avec preuves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la base légale et la minimisation pour les données biométriques (DPIA dédiée)</a:t>
            </a:r>
            <a:endParaRPr lang="en-US" sz="11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le rôle et les moyens du DPO existant, et tracer les décisions de privacy by design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A3A7A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base solide, trois chantiers prioritaires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685800" cy="685800"/>
          </a:xfrm>
          <a:prstGeom prst="ellipse">
            <a:avLst/>
          </a:prstGeom>
          <a:solidFill>
            <a:srgbClr val="2A3A7A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317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à préserver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257860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(PAM, MFA, chiffrement) et réponse à incident matures, certifications ISO 27001 et PCI-DSS, culture de post-mortem.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520440"/>
            <a:ext cx="685800" cy="685800"/>
          </a:xfrm>
          <a:prstGeom prst="ellipse">
            <a:avLst/>
          </a:prstGeom>
          <a:solidFill>
            <a:srgbClr val="2A3A7A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6576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Chantiers immédiats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554480" y="390448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Remédier au VPN vulnérable, industrialiser les DSR, nommer un CISO. Ce sont les trois actions à plus fort effet de levier.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846320"/>
            <a:ext cx="685800" cy="685800"/>
          </a:xfrm>
          <a:prstGeom prst="ellipse">
            <a:avLst/>
          </a:prstGeom>
          <a:solidFill>
            <a:srgbClr val="2A3A7A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9834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554480" y="52303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Maturité moyenne actuelle 3,1 sur 5, cible réaliste 4,0. Renforcer Govern et Detect aligne aussi l'entreprise sur NIS2 et DORA.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Syntaris Group</dc:title>
  <dc:subject>PptxGenJS Presentation</dc:subject>
  <dc:creator>Audit cybersécurité</dc:creator>
  <cp:lastModifiedBy>Audit cybersécurité</cp:lastModifiedBy>
  <cp:revision>1</cp:revision>
  <dcterms:created xsi:type="dcterms:W3CDTF">2026-05-27T08:19:25Z</dcterms:created>
  <dcterms:modified xsi:type="dcterms:W3CDTF">2026-05-27T08:19:25Z</dcterms:modified>
</cp:coreProperties>
</file>